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508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88952" cy="508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12188952" cy="508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12188952" cy="508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72000"/>
            <a:ext cx="12188952" cy="508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12188952" cy="508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5080"/>
          </a:xfrm>
          <a:prstGeom prst="rect">
            <a:avLst/>
          </a:prstGeom>
          <a:solidFill>
            <a:srgbClr val="1E3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459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AI-Driven SDLC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71323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DADE2"/>
                </a:solidFill>
              </a:rPr>
              <a:t>新一代 AI 驅動的軟體開發生命週期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89920" y="164592"/>
            <a:ext cx="1188720" cy="457200"/>
          </a:xfrm>
          <a:prstGeom prst="rect">
            <a:avLst/>
          </a:prstGeom>
          <a:solidFill>
            <a:srgbClr val="1A2F6B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0" y="2011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DADE2"/>
                </a:solidFill>
              </a:rPr>
              <a:t>遠傳 FET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261872"/>
            <a:ext cx="11548872" cy="2540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207008"/>
            <a:ext cx="11548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AI Gatekeeper  ─── 全程把關每個 SDLC 節點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463040"/>
            <a:ext cx="2103120" cy="3291840"/>
          </a:xfrm>
          <a:prstGeom prst="rect">
            <a:avLst/>
          </a:prstGeom>
          <a:solidFill>
            <a:srgbClr val="1A2F6B"/>
          </a:solidFill>
          <a:ln w="15240">
            <a:solidFill>
              <a:srgbClr val="2E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" y="1572768"/>
            <a:ext cx="475488" cy="347472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15544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19659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83280"/>
            <a:ext cx="1737360" cy="1905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493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</a:rPr>
              <a:t>AI 起草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840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F1"/>
                </a:solidFill>
              </a:rPr>
              <a:t>人類決策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87752" y="1463040"/>
            <a:ext cx="2103120" cy="3291840"/>
          </a:xfrm>
          <a:prstGeom prst="rect">
            <a:avLst/>
          </a:prstGeom>
          <a:solidFill>
            <a:srgbClr val="1A2F6B"/>
          </a:solidFill>
          <a:ln w="15240">
            <a:solidFill>
              <a:srgbClr val="2E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97480" y="1572768"/>
            <a:ext cx="475488" cy="347472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15544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87752" y="19659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設計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87752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70632" y="3383280"/>
            <a:ext cx="1737360" cy="1905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87752" y="3493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</a:rPr>
              <a:t>AI 提案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3840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F1"/>
                </a:solidFill>
              </a:rPr>
              <a:t>架構師定案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5464" y="1463040"/>
            <a:ext cx="2103120" cy="3291840"/>
          </a:xfrm>
          <a:prstGeom prst="rect">
            <a:avLst/>
          </a:prstGeom>
          <a:solidFill>
            <a:srgbClr val="1A2F6B"/>
          </a:solidFill>
          <a:ln w="15240">
            <a:solidFill>
              <a:srgbClr val="2E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65192" y="1572768"/>
            <a:ext cx="475488" cy="347472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65192" y="15544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5464" y="19659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開發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55464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&lt;/&gt;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38344" y="3383280"/>
            <a:ext cx="1737360" cy="1905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55464" y="3493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</a:rPr>
              <a:t>Human +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55464" y="3840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F1"/>
                </a:solidFill>
              </a:rPr>
              <a:t>結對開發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23176" y="1463040"/>
            <a:ext cx="2103120" cy="3291840"/>
          </a:xfrm>
          <a:prstGeom prst="rect">
            <a:avLst/>
          </a:prstGeom>
          <a:solidFill>
            <a:srgbClr val="1A2F6B"/>
          </a:solidFill>
          <a:ln w="15240">
            <a:solidFill>
              <a:srgbClr val="2E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32904" y="1572768"/>
            <a:ext cx="475488" cy="347472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32904" y="15544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23176" y="19659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測試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23176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06056" y="3383280"/>
            <a:ext cx="1737360" cy="1905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23176" y="3493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</a:rPr>
              <a:t>AI 全自動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3176" y="3840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F1"/>
                </a:solidFill>
              </a:rPr>
              <a:t>測試覆蓋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90888" y="1463040"/>
            <a:ext cx="2103120" cy="3291840"/>
          </a:xfrm>
          <a:prstGeom prst="rect">
            <a:avLst/>
          </a:prstGeom>
          <a:solidFill>
            <a:srgbClr val="1A2F6B"/>
          </a:solidFill>
          <a:ln w="15240">
            <a:solidFill>
              <a:srgbClr val="2E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00616" y="1572768"/>
            <a:ext cx="475488" cy="347472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0616" y="1554480"/>
            <a:ext cx="4754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90888" y="1965960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文件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888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73768" y="3383280"/>
            <a:ext cx="1737360" cy="19050"/>
          </a:xfrm>
          <a:prstGeom prst="rect">
            <a:avLst/>
          </a:prstGeom>
          <a:solidFill>
            <a:srgbClr val="2E6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90888" y="34930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392B"/>
                </a:solidFill>
              </a:rPr>
              <a:t>AI 即時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90888" y="38404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6F1"/>
                </a:solidFill>
              </a:rPr>
              <a:t>雙語文件化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04872" y="29718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ADE2"/>
                </a:solidFill>
              </a:rP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72584" y="29718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ADE2"/>
                </a:solidFill>
              </a:rPr>
              <a:t>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0296" y="29718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ADE2"/>
                </a:solidFill>
              </a:rP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08008" y="29718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DADE2"/>
                </a:solidFill>
              </a:rPr>
              <a:t>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956048"/>
            <a:ext cx="11548872" cy="1572768"/>
          </a:xfrm>
          <a:prstGeom prst="rect">
            <a:avLst/>
          </a:prstGeom>
          <a:solidFill>
            <a:srgbClr val="0A142E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0040" y="4956048"/>
            <a:ext cx="91440" cy="15727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5065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</a:rPr>
              <a:t>Bottom Line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54132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 Gatekeeper 全程把關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58521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DADE2"/>
                </a:solidFill>
              </a:rPr>
              <a:t>每個節點自動過濾重複工作，工程師專注高價值決策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