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0"/>
            <a:ext cx="12006072" cy="685800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10972" cy="6858000"/>
          </a:xfrm>
          <a:prstGeom prst="rect">
            <a:avLst/>
          </a:prstGeom>
          <a:solidFill>
            <a:srgbClr val="22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10972" cy="6858000"/>
          </a:xfrm>
          <a:prstGeom prst="rect">
            <a:avLst/>
          </a:prstGeom>
          <a:solidFill>
            <a:srgbClr val="22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10972" cy="6858000"/>
          </a:xfrm>
          <a:prstGeom prst="rect">
            <a:avLst/>
          </a:prstGeom>
          <a:solidFill>
            <a:srgbClr val="22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0" y="0"/>
            <a:ext cx="10972" cy="6858000"/>
          </a:xfrm>
          <a:prstGeom prst="rect">
            <a:avLst/>
          </a:prstGeom>
          <a:solidFill>
            <a:srgbClr val="22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1371600"/>
            <a:ext cx="12006072" cy="10972"/>
          </a:xfrm>
          <a:prstGeom prst="rect">
            <a:avLst/>
          </a:prstGeom>
          <a:solidFill>
            <a:srgbClr val="22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2743200"/>
            <a:ext cx="12006072" cy="10972"/>
          </a:xfrm>
          <a:prstGeom prst="rect">
            <a:avLst/>
          </a:prstGeom>
          <a:solidFill>
            <a:srgbClr val="22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4114800"/>
            <a:ext cx="12006072" cy="10972"/>
          </a:xfrm>
          <a:prstGeom prst="rect">
            <a:avLst/>
          </a:prstGeom>
          <a:solidFill>
            <a:srgbClr val="22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5486400"/>
            <a:ext cx="12006072" cy="10972"/>
          </a:xfrm>
          <a:prstGeom prst="rect">
            <a:avLst/>
          </a:prstGeom>
          <a:solidFill>
            <a:srgbClr val="22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463040"/>
            <a:ext cx="6858000" cy="411480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463040"/>
            <a:ext cx="137160" cy="4114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1600200"/>
            <a:ext cx="15544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1627632"/>
            <a:ext cx="1444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DTIS AI 技術學院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0574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AI 驅動工程未來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9718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5A623"/>
                </a:solidFill>
              </a:rPr>
              <a:t>DTIS 已在路上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005072"/>
            <a:ext cx="5943600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33087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</a:rPr>
              <a:t>「我們不是在導入 AI 工具，我們是在重新定義
 軟體開發的作業系統。」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57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0"/>
                </a:solidFill>
              </a:rPr>
              <a:t>轉型成果報告 ｜ 2026 Q2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1737360"/>
            <a:ext cx="4114800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0" y="1737360"/>
            <a:ext cx="91440" cy="13258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18288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B4D8"/>
                </a:solidFill>
              </a:rPr>
              <a:t>105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6334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人 AI 社群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3246120"/>
            <a:ext cx="4114800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0" y="3246120"/>
            <a:ext cx="91440" cy="1325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33375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5A623"/>
                </a:solidFill>
              </a:rPr>
              <a:t>20+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142231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項 Skills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4754879"/>
            <a:ext cx="4114800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4754879"/>
            <a:ext cx="91440" cy="132588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4846319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2DC653"/>
                </a:solidFill>
              </a:rP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56509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自動化覆蓋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2880" y="63367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遠傳 DTIS｜AI 技術學院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63367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內部機密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7160"/>
            <a:ext cx="749808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544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執行摘要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一年內，從零到規模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社群從 12 人擴展到 105 人，AI 能力已系統化、平台化、可複製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34440"/>
            <a:ext cx="3657600" cy="2057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34440"/>
            <a:ext cx="36576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258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B4D8"/>
                </a:solidFill>
              </a:rPr>
              <a:t>12 → 105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031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AI 社群規模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68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三個月成長 8.75 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234440"/>
            <a:ext cx="3657600" cy="2057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234440"/>
            <a:ext cx="365760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3258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5A623"/>
                </a:solidFill>
              </a:rPr>
              <a:t>20+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1031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Skills 封裝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468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可重用 AI 能力模組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19" y="1234440"/>
            <a:ext cx="3657600" cy="2057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19" y="1234440"/>
            <a:ext cx="365760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199" y="13258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C00000"/>
                </a:solidFill>
              </a:rPr>
              <a:t>10+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199" y="21031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MCP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199" y="2468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上線運行中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566160"/>
            <a:ext cx="3657600" cy="2057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3566160"/>
            <a:ext cx="3657600" cy="6400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6576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2DC653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4348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SDLC 環節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800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全程 AI Agent 覆蓋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566160"/>
            <a:ext cx="3657600" cy="2057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3566160"/>
            <a:ext cx="3657600" cy="64008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36576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A055FF"/>
                </a:solidFill>
              </a:rPr>
              <a:t>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4348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自動化覆蓋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4800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AEM 全站測試達成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760720"/>
            <a:ext cx="11430000" cy="4754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80644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4D8"/>
                </a:solidFill>
              </a:rPr>
              <a:t>挑戰：SDLC 每個環節依賴大量人工，交付週期長、風險難以前置化管理。  →  答案：系統性改造 SDLC，三個月落地四項可量化 AI 成果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" y="63367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遠傳 DTIS｜AI 技術學院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63367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7160"/>
            <a:ext cx="749808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544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核心架構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不是工具堆疊，是有機協作系統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LLM 是大腦、Skills 是知識、MCP 是手腳，三層架構讓 AI 真正會做事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188720"/>
            <a:ext cx="685800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88720"/>
            <a:ext cx="109728" cy="1234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88720"/>
            <a:ext cx="6858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280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LLM  大腦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6916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思考 / 推理 / 判斷 / 決策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9339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Claude / GPT / Gemini
負責「想清楚」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06040"/>
            <a:ext cx="685800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06040"/>
            <a:ext cx="109728" cy="1234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606040"/>
            <a:ext cx="6858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6974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</a:rPr>
              <a:t>Skills  專業知識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1089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封裝工程師 Domain Know-how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41071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Requirement Auditor / Code Reviewer
負責「知道什麼」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23360"/>
            <a:ext cx="685800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023360"/>
            <a:ext cx="109728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023360"/>
            <a:ext cx="6858000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14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</a:rPr>
              <a:t>MCP  手腳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5262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標準化工具協定 — AI 世界的 HTTP 協議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82803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Playwright / PostgreSQL / 維運 API
負責「動起來做」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2450592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00000"/>
                </a:solidFill>
              </a:rPr>
              <a:t>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867912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00000"/>
                </a:solidFill>
              </a:rPr>
              <a:t>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18120" y="1143000"/>
            <a:ext cx="4114800" cy="4892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18120" y="1143000"/>
            <a:ext cx="4114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1000" y="12344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三層分工的戰略價值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1737360"/>
            <a:ext cx="608076" cy="2743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92440" y="1764792"/>
            <a:ext cx="4983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可維護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20574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每層獨立升級，不影響其他層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0" y="2560320"/>
            <a:ext cx="608076" cy="2743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440" y="2587751"/>
            <a:ext cx="4983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可擴充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28803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新增 Skills / MCP 不改架構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01000" y="3383280"/>
            <a:ext cx="608076" cy="2743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92440" y="3410712"/>
            <a:ext cx="4983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可審計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370332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每次工具呼叫皆有紀錄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1000" y="4206240"/>
            <a:ext cx="713232" cy="2743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92440" y="4233672"/>
            <a:ext cx="6035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不鎖廠商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4526279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LLM 可替換，技術自主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01000" y="5029200"/>
            <a:ext cx="713232" cy="2743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92440" y="5056632"/>
            <a:ext cx="6035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知識傳承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53492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Skills 封裝資深工程師經驗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2880" y="63367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遠傳 DTIS｜AI 技術學院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63367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7160"/>
            <a:ext cx="1344168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5448"/>
            <a:ext cx="12527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SDLC AI 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從需求到維運，AI 全程在場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每個工程環節都有專屬 AI Agent，沒有人力瓶頸，沒有知識孤島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51560"/>
            <a:ext cx="2148840" cy="6400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05156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20700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9BB0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28800"/>
            <a:ext cx="214884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828800"/>
            <a:ext cx="214884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92024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5A623"/>
                </a:solidFill>
              </a:rPr>
              <a:t>Requirement
AI Auditor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907792"/>
            <a:ext cx="2148840" cy="19202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907792"/>
            <a:ext cx="73152" cy="1920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2999232"/>
            <a:ext cx="1920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拆解需求
識別模糊點
生成 User Story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70048" y="1051560"/>
            <a:ext cx="214884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0048" y="105156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開發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120700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9BB0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0048" y="1828800"/>
            <a:ext cx="214884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70048" y="1828800"/>
            <a:ext cx="21488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61488" y="192024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0B4D8"/>
                </a:solidFill>
              </a:rPr>
              <a:t>AI Pair
Programming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0048" y="2907792"/>
            <a:ext cx="2148840" cy="19202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70048" y="2907792"/>
            <a:ext cx="73152" cy="1920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2999232"/>
            <a:ext cx="1920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程式碼生成
架構建議
重構輔助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0055" y="1051560"/>
            <a:ext cx="2148840" cy="640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0055" y="105156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上版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8896" y="120700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9BB0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0055" y="1828800"/>
            <a:ext cx="214884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0055" y="1828800"/>
            <a:ext cx="2148840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11495" y="192024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C00000"/>
                </a:solidFill>
              </a:rPr>
              <a:t>Security &amp;
Logic Auditor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0055" y="2907792"/>
            <a:ext cx="2148840" cy="19202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0055" y="2907792"/>
            <a:ext cx="73152" cy="19202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84647" y="2999232"/>
            <a:ext cx="1920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PR 雙層審核
風險分級報告
High Risk 直接退回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0063" y="1051560"/>
            <a:ext cx="2148840" cy="64008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70063" y="105156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測試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18903" y="120700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9BB0"/>
                </a:solidFill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70063" y="1828800"/>
            <a:ext cx="214884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70063" y="1828800"/>
            <a:ext cx="2148840" cy="54864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61503" y="192024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2DC653"/>
                </a:solidFill>
              </a:rPr>
              <a:t>Auto Testing
Agent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70063" y="2907792"/>
            <a:ext cx="2148840" cy="19202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70063" y="2907792"/>
            <a:ext cx="73152" cy="192024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34655" y="2999232"/>
            <a:ext cx="1920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UI 自動回歸
Playwright+MCP
持續覆蓋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20072" y="1051560"/>
            <a:ext cx="2148840" cy="64008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20072" y="105156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維運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20072" y="1828800"/>
            <a:ext cx="214884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720072" y="1828800"/>
            <a:ext cx="2148840" cy="54864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11511" y="192024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A055FF"/>
                </a:solidFill>
              </a:rPr>
              <a:t>Diagnostic &amp;
Analysis Agent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720072" y="2907792"/>
            <a:ext cx="2148840" cy="19202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720072" y="2907792"/>
            <a:ext cx="73152" cy="192024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84663" y="2999232"/>
            <a:ext cx="1920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主動預警
多 MCP 推論
知識封裝傳承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4983480"/>
            <a:ext cx="11567160" cy="65836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50292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MCPHub 統一工具平台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40480" y="507492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所有 Agent 共享 10+ MCP Services ｜ 智慧路由 ｜ 安全認證 ｜ 即時監控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3367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遠傳 DTIS｜AI 技術學院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0" y="63367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7160"/>
            <a:ext cx="749808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544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技術平台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MCPHub：AI 能力的統一接線盒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讓所有 Agent 共享工具、共享知識，是規模化的關鍵基礎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2103120"/>
            <a:ext cx="3657600" cy="2926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2103120"/>
            <a:ext cx="36576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221284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B4D8"/>
                </a:solidFill>
              </a:rPr>
              <a:t>MCPHub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852928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AI Agent 世界的
API Gateway + Control Plane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3703320"/>
            <a:ext cx="301752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379476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10+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1605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E"/>
                </a:solidFill>
              </a:rPr>
              <a:t>MCP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79476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全部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41605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E"/>
                </a:solidFill>
              </a:rPr>
              <a:t>Agent 共用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79476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即時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41605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E"/>
                </a:solidFill>
              </a:rPr>
              <a:t>監控告警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371600"/>
            <a:ext cx="356616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1371600"/>
            <a:ext cx="91440" cy="118872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14813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3"/>
                </a:solidFill>
              </a:rPr>
              <a:t>Playwright 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19202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UI 自動化測試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0208" y="1810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BB0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788920"/>
            <a:ext cx="356616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2788920"/>
            <a:ext cx="91440" cy="1188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28986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PostgreSQL MCP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3375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DB 效能診斷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0208" y="32278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BB0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06240"/>
            <a:ext cx="356616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206240"/>
            <a:ext cx="91440" cy="118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3159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PR Hook MCP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75487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Code Review 觸發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50208" y="46451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BB0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20" y="1371600"/>
            <a:ext cx="356616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75320" y="1371600"/>
            <a:ext cx="91440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85632" y="14813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Nagios / Prometheus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85632" y="19202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維運監控整合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36992" y="1810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BB0"/>
                </a:solidFill>
              </a:rPr>
              <a:t>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75320" y="2788920"/>
            <a:ext cx="356616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75320" y="2788920"/>
            <a:ext cx="91440" cy="118872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85632" y="28986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55FF"/>
                </a:solidFill>
              </a:rPr>
              <a:t>AEM 測試 MCP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85632" y="33375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元件自動覆蓋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36992" y="32278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BB0"/>
                </a:solidFill>
              </a:rPr>
              <a:t>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20" y="4206240"/>
            <a:ext cx="356616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75320" y="4206240"/>
            <a:ext cx="91440" cy="118872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85632" y="43159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3"/>
                </a:solidFill>
              </a:rPr>
              <a:t>維運推論 MCP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5632" y="475487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多工具串聯推論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36992" y="46451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BB0"/>
                </a:solidFill>
              </a:rPr>
              <a:t>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2880" y="63367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遠傳 DTIS｜AI 技術學院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63367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7160"/>
            <a:ext cx="749808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544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應用案例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從被動應對，到主動預防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兩個核心痛點，AI 都給出了系統性解法，不是一次性修補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557784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097280"/>
            <a:ext cx="91440" cy="50292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5577840" cy="54864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7043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3"/>
                </a:solidFill>
              </a:rPr>
              <a:t>案例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4447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UI 自動化回歸測試平台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901952"/>
            <a:ext cx="5212079" cy="4114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11680"/>
            <a:ext cx="502920" cy="27432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039112"/>
            <a:ext cx="39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痛點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359152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測試腳本零散、人工維護成本高、回歸覆蓋不穩定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502920" cy="2743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36392"/>
            <a:ext cx="39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解法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56432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Playwright + MCP Server 建立可擴充持續回歸測試平台
處理 OTP / Captcha / 2FA 後全站探勘自動執行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06240"/>
            <a:ext cx="502920" cy="274320"/>
          </a:xfrm>
          <a:prstGeom prst="rect">
            <a:avLst/>
          </a:prstGeom>
          <a:solidFill>
            <a:srgbClr val="145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33672"/>
            <a:ext cx="39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成果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53712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C653"/>
                </a:solidFill>
              </a:rPr>
              <a:t>零散腳本 → 結構化持續平台
覆蓋率提升且可自動觸發，降低導入成本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097280"/>
            <a:ext cx="557784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1097280"/>
            <a:ext cx="91440" cy="5029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1097280"/>
            <a:ext cx="557784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17043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案例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14447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PostgreSQL 效能優化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1901952"/>
            <a:ext cx="5212079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46520" y="2011680"/>
            <a:ext cx="502920" cy="27432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59" y="2039112"/>
            <a:ext cx="39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痛點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359152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DB 問題靠人工排查，知識不傳承，每次都重新來過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108960"/>
            <a:ext cx="502920" cy="2743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59" y="3136392"/>
            <a:ext cx="39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解法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456432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AI 管線：快照截取 → 報表解析 → 智能過濾（容量&gt;1GB 或 Top5 慢查詢）→ AI 診斷建議 → 視覺化監控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4206240"/>
            <a:ext cx="502920" cy="274320"/>
          </a:xfrm>
          <a:prstGeom prst="rect">
            <a:avLst/>
          </a:prstGeom>
          <a:solidFill>
            <a:srgbClr val="145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59" y="4233672"/>
            <a:ext cx="39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成果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553712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C653"/>
                </a:solidFill>
              </a:rPr>
              <a:t>被動滅火 → 主動預警
資深工程師知識封裝傳承，不再依賴個人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2880" y="63367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遠傳 DTIS｜AI 技術學院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63367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7160"/>
            <a:ext cx="749808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544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應用案例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AI 進入審核與維運核心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高風險 PR 直接退回，維運推論秒出結果，AI 已是品質與穩定的守門人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557784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097280"/>
            <a:ext cx="91440" cy="5029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5577840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7043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</a:rPr>
              <a:t>案例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4447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PR Code Review「無情審查員」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901952"/>
            <a:ext cx="5212079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11680"/>
            <a:ext cx="502920" cy="27432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039112"/>
            <a:ext cx="39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痛點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359152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人工 Code Review 品質不穩定，高風險變更難以即時識別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502920" cy="2743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36392"/>
            <a:ext cx="39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解法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56432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AI Agent 雙層審核：
第一道：開發 Reviewer（需求範圍與功能正確性）
第二道：維運 Reviewer（穩定性、可用性、風險防禦）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06240"/>
            <a:ext cx="502920" cy="274320"/>
          </a:xfrm>
          <a:prstGeom prst="rect">
            <a:avLst/>
          </a:prstGeom>
          <a:solidFill>
            <a:srgbClr val="145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33672"/>
            <a:ext cx="39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成果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53712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C653"/>
                </a:solidFill>
              </a:rPr>
              <a:t>輸出 High / Medium / Low 風險報告
High Risk PR 直接退回修正，不進人工審核流程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097280"/>
            <a:ext cx="557784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1097280"/>
            <a:ext cx="91440" cy="5029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1097280"/>
            <a:ext cx="55778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17043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案例 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14447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DSP 維運助手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1901952"/>
            <a:ext cx="5212079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46520" y="2011680"/>
            <a:ext cx="502920" cy="27432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59" y="2039112"/>
            <a:ext cx="39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痛點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359152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維運問題需跨系統查詢，耗時且依賴資深人員經驗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108960"/>
            <a:ext cx="502920" cy="2743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59" y="3136392"/>
            <a:ext cx="39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解法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456432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輸入門號 → AI 自動串聯多 MCP 工具推論：
User ID 查詢 → 交易紀錄 → Nagios/Prometheus 監控 → 綜合風險分析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4206240"/>
            <a:ext cx="502920" cy="274320"/>
          </a:xfrm>
          <a:prstGeom prst="rect">
            <a:avLst/>
          </a:prstGeom>
          <a:solidFill>
            <a:srgbClr val="145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59" y="4233672"/>
            <a:ext cx="393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成果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553712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C653"/>
                </a:solidFill>
              </a:rPr>
              <a:t>秒級輸出完整風險結論
降低維運人力門檻，知識民主化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2880" y="63367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遠傳 DTIS｜AI 技術學院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63367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7160"/>
            <a:ext cx="987552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5448"/>
            <a:ext cx="8961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大型專案驗證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規模龐大到人工無法完整覆蓋的專案，AI 做到了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AEM Cloud Migration：AI 能力的規模壓力測試，通過了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3657600" cy="1691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36576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98448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0B4D8"/>
                </a:solidFill>
              </a:rPr>
              <a:t>292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128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個元件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786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0C4DE"/>
                </a:solidFill>
              </a:rPr>
              <a:t>全部完成升級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188720"/>
            <a:ext cx="3657600" cy="1691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188720"/>
            <a:ext cx="365760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298448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5A623"/>
                </a:solidFill>
              </a:rPr>
              <a:t>27,709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2128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個網頁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5786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0C4DE"/>
                </a:solidFill>
              </a:rPr>
              <a:t>全站搬移完成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188720"/>
            <a:ext cx="3657600" cy="1691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188720"/>
            <a:ext cx="3657600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298448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C00000"/>
                </a:solidFill>
              </a:rPr>
              <a:t>100,000+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2128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件素材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5786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0C4DE"/>
                </a:solidFill>
              </a:rPr>
              <a:t>完整遷移覆蓋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154680"/>
            <a:ext cx="5394960" cy="2743200"/>
          </a:xfrm>
          <a:prstGeom prst="rect">
            <a:avLst/>
          </a:prstGeom>
          <a:solidFill>
            <a:srgbClr val="18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154680"/>
            <a:ext cx="5394960" cy="64008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A9BB0"/>
                </a:solidFill>
              </a:rPr>
              <a:t>導入 AI 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70332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F4444"/>
                </a:solidFill>
              </a:rPr>
              <a:t>✕  測試進度嚴重落後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29768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F4444"/>
                </a:solidFill>
              </a:rPr>
              <a:t>✕  人工覆蓋率無法達標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9204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F4444"/>
                </a:solidFill>
              </a:rPr>
              <a:t>✕  細微樣式差異難以偵測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154680"/>
            <a:ext cx="5394960" cy="2743200"/>
          </a:xfrm>
          <a:prstGeom prst="rect">
            <a:avLst/>
          </a:prstGeom>
          <a:solidFill>
            <a:srgbClr val="0A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154680"/>
            <a:ext cx="5394960" cy="6400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C653"/>
                </a:solidFill>
              </a:rPr>
              <a:t>導入 AI 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70332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C653"/>
                </a:solidFill>
              </a:rPr>
              <a:t>✓  100% FETnet 全站自動化覆蓋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29768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C653"/>
                </a:solidFill>
              </a:rPr>
              <a:t>✓  AI 自動分析異常原因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89204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C653"/>
                </a:solidFill>
              </a:rPr>
              <a:t>✓  細微樣式差異自動偵測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4114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00000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" y="63367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遠傳 DTIS｜AI 技術學院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63367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7160"/>
            <a:ext cx="749808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544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量化成果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數字不說謊，成果已驗證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83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每一項數字背後都是真實交付，不是 POC，不是實驗室數據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207008"/>
            <a:ext cx="3703320" cy="2084831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207008"/>
            <a:ext cx="37033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298448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B4D8"/>
                </a:solidFill>
              </a:rPr>
              <a:t>12 → 105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AI 社群規模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56032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三個月成長 8.75 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1207008"/>
            <a:ext cx="3703320" cy="2084831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207008"/>
            <a:ext cx="37033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298448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5A623"/>
                </a:solidFill>
              </a:rPr>
              <a:t>20+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16712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Skills 封裝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56032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可重用 AI 能力模組已上線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7888" y="1207008"/>
            <a:ext cx="3703320" cy="2084831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47888" y="1207008"/>
            <a:ext cx="370332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7" y="1298448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00000"/>
                </a:solidFill>
              </a:rPr>
              <a:t>10+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7" y="216712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MCP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7" y="256032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平台運行中的工具服務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3511296"/>
            <a:ext cx="3703320" cy="2084831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" y="3511296"/>
            <a:ext cx="3703320" cy="6400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602736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2DC653"/>
                </a:solidFill>
              </a:rPr>
              <a:t>5 /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44714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SDLC 覆蓋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86460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需求到維運，全環節有 Agent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15968" y="3511296"/>
            <a:ext cx="3703320" cy="2084831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15968" y="3511296"/>
            <a:ext cx="3703320" cy="64008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8848" y="3602736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A055FF"/>
                </a:solidFill>
              </a:rPr>
              <a:t>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44714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自動化覆蓋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8848" y="486460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AEM Migration 全站達成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47888" y="3511296"/>
            <a:ext cx="3703320" cy="2084831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47888" y="3511296"/>
            <a:ext cx="37033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30767" y="3602736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B4D8"/>
                </a:solidFill>
              </a:rPr>
              <a:t>2 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0767" y="44714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審核機制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0767" y="486460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PR Code Review 雙層把關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2880" y="63367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遠傳 DTIS｜AI 技術學院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63367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基礎已立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789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5A623"/>
                </a:solidFill>
              </a:rPr>
              <a:t>下一步等您點頭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93392"/>
            <a:ext cx="5029200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2176272"/>
            <a:ext cx="5349240" cy="3520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2176272"/>
            <a:ext cx="5349240" cy="6400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677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C653"/>
                </a:solidFill>
              </a:rPr>
              <a:t>✅  已完成（基礎紮實）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8892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  ·  AI 架構驗證（LLM+Skills+MCP）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3756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  ·  MCPHub 平台建置與上線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8620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  ·  四項可量化 AI 應用案例交付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3484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  ·  SDLC 五環節 AI Agent 覆蓋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83479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  ·  社群建立（12 → 105 人）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2176272"/>
            <a:ext cx="5715000" cy="3520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2176272"/>
            <a:ext cx="571500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26771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</a:rPr>
              <a:t>🎯  下一步（請高層支持）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788920"/>
            <a:ext cx="15544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79" y="2816351"/>
            <a:ext cx="1444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MCPHub 跨部門開放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136391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將平台能力擴散至其他業務單位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794760"/>
            <a:ext cx="1449324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79" y="3822192"/>
            <a:ext cx="13395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AI 技術學院正式建制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14223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從自發社群升格為部門級常設機構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800600"/>
            <a:ext cx="1869948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79" y="4828032"/>
            <a:ext cx="17602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SDLC AI 化納入集團規範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14807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讓 AI 工程標準成為全集團基線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833872"/>
            <a:ext cx="1138428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8704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時間窗口明確，競爭優勢正在形成，現在是擴大投資的最佳時機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" y="63367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遠傳 DTIS｜AI 技術學院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63367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