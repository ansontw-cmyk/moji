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943600" cy="63093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630936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320040"/>
            <a:ext cx="987552" cy="29260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338328"/>
            <a:ext cx="8961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PART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777240"/>
            <a:ext cx="5303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600" b="1" i="0">
                <a:solidFill>
                  <a:srgbClr val="FFFFFF"/>
                </a:solidFill>
              </a:rPr>
              <a:t>AI 工作流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828800"/>
            <a:ext cx="4114800" cy="36576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96596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F5A623"/>
                </a:solidFill>
              </a:rPr>
              <a:t>30 分鐘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971800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00B4D8"/>
                </a:solidFill>
              </a:rPr>
              <a:t>從產品構想到可執行程式碼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749039"/>
            <a:ext cx="5029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B0C4DE"/>
                </a:solidFill>
              </a:rPr>
              <a:t>這不是 ChatGPT 的進階用法
這是一支 AI 工程團隊同步運作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92240" y="731520"/>
            <a:ext cx="5303520" cy="14630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92240" y="731520"/>
            <a:ext cx="109728" cy="146304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12279" y="777240"/>
            <a:ext cx="2286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200" b="1" i="0">
                <a:solidFill>
                  <a:srgbClr val="C00000"/>
                </a:solidFill>
              </a:rPr>
              <a:t>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12279" y="173736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個 Agent 角色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92240" y="2468880"/>
            <a:ext cx="5303520" cy="14630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92240" y="2468880"/>
            <a:ext cx="109728" cy="14630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12279" y="2514600"/>
            <a:ext cx="2286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200" b="1" i="0">
                <a:solidFill>
                  <a:srgbClr val="00B4D8"/>
                </a:solidFill>
              </a:rPr>
              <a:t>30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12279" y="347472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分鐘完成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92240" y="4206240"/>
            <a:ext cx="5303520" cy="14630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92240" y="4206240"/>
            <a:ext cx="109728" cy="1463040"/>
          </a:xfrm>
          <a:prstGeom prst="rect">
            <a:avLst/>
          </a:prstGeom>
          <a:solidFill>
            <a:srgbClr val="2DC6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12279" y="4251959"/>
            <a:ext cx="2286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200" b="1" i="0">
                <a:solidFill>
                  <a:srgbClr val="2DC653"/>
                </a:solidFill>
              </a:rPr>
              <a:t>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12279" y="5212079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次人工交接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589788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88AACC"/>
                </a:solidFill>
              </a:rPr>
              <a:t>vs. 傳統流程需 2–4 週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82880" y="6327648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遠傳 FET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0" y="6327648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</a:rPr>
              <a:t>AI 工作流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795760" y="6327648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FFFFFF"/>
                </a:solidFill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37160"/>
            <a:ext cx="749808" cy="29260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55448"/>
            <a:ext cx="6583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問題診斷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50292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單打獨鬥的 AI，天花板在這裡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280160"/>
            <a:ext cx="3520440" cy="38404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280160"/>
            <a:ext cx="3520440" cy="73152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444751"/>
            <a:ext cx="137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C00000"/>
                </a:solidFill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240280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Context Window
有限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3108960"/>
            <a:ext cx="2926080" cy="36576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3246120"/>
            <a:ext cx="31089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B0C4DE"/>
                </a:solidFill>
              </a:rPr>
              <a:t>複雜任務塞不進
單一對話視窗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43400" y="1280160"/>
            <a:ext cx="3520440" cy="38404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43400" y="1280160"/>
            <a:ext cx="3520440" cy="7315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26280" y="1444751"/>
            <a:ext cx="137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F5A623"/>
                </a:solidFill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6280" y="2240280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角色衝突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26280" y="3108960"/>
            <a:ext cx="2926080" cy="36576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26280" y="3246120"/>
            <a:ext cx="31089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B0C4DE"/>
                </a:solidFill>
              </a:rPr>
              <a:t>既當 PM 又當工程師
品質被稀釋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138160" y="1280160"/>
            <a:ext cx="3520440" cy="38404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138160" y="1280160"/>
            <a:ext cx="3520440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21040" y="1444751"/>
            <a:ext cx="137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00B4D8"/>
                </a:solidFill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21040" y="2240280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無法並行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321040" y="3108960"/>
            <a:ext cx="292608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21040" y="3246120"/>
            <a:ext cx="31089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B0C4DE"/>
                </a:solidFill>
              </a:rPr>
              <a:t>所有思考序列化
效率卡在線性速度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5303520"/>
            <a:ext cx="11338560" cy="685800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537667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B4D8"/>
                </a:solidFill>
              </a:rPr>
              <a:t>解法：讓每個 Agent 專注單一角色，透過結構化 Output 串聯 → Multi-Agent Workflow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82880" y="6327648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遠傳 FET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0" y="6327648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</a:rPr>
              <a:t>AI 工作流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795760" y="6327648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FFFFFF"/>
                </a:solidFill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37160"/>
            <a:ext cx="749808" cy="29260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55448"/>
            <a:ext cx="6583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設計原則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50292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Multi-Agent 三大核心設計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234440"/>
            <a:ext cx="3611880" cy="46634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234440"/>
            <a:ext cx="91440" cy="466344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344168"/>
            <a:ext cx="1371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C00000"/>
                </a:solidFill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192024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角色專一化
Role Specialization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2743200"/>
            <a:ext cx="3017520" cy="36576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880360"/>
            <a:ext cx="320040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B8CCE0"/>
                </a:solidFill>
              </a:rPr>
              <a:t>每個 Agent 只做一件事
Prompt 設計 = JD 職位說明書
✦  PM Agent 只輸出 PRD
✦  UX Agent 只輸出線框圖規格
✦  QA Agent 只做驗證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43400" y="1234440"/>
            <a:ext cx="3611880" cy="46634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43400" y="1234440"/>
            <a:ext cx="91440" cy="46634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17720" y="1344168"/>
            <a:ext cx="1371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0B4D8"/>
                </a:solidFill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7720" y="192024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結構化交接
Structured Handoff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617720" y="2743200"/>
            <a:ext cx="301752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17720" y="2880360"/>
            <a:ext cx="320040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B8CCE0"/>
                </a:solidFill>
              </a:rPr>
              <a:t>Output 必須是下一個 Agent
的有效 Input
✦  格式：Markdown / JSON Schema
✦  工程師設計「格式」
   不是「對話內容」
✦  錯誤在格式邊界被攔截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9600" y="1234440"/>
            <a:ext cx="3611880" cy="46634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229600" y="1234440"/>
            <a:ext cx="91440" cy="466344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03920" y="1344168"/>
            <a:ext cx="1371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5A623"/>
                </a:solidFill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03920" y="192024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編排策略
Orchestration Pattern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503920" y="2743200"/>
            <a:ext cx="3017520" cy="36576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03920" y="2880360"/>
            <a:ext cx="320040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B8CCE0"/>
                </a:solidFill>
              </a:rPr>
              <a:t>Sequential  A→B→C
（有依賴關係）
Parallel   A╮
           B╯→C
（獨立子任務同時跑）
Conditional  依結果走不同路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82880" y="6327648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遠傳 FET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0" y="6327648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</a:rPr>
              <a:t>AI 工作流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795760" y="6327648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FFFFFF"/>
                </a:solidFill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28016"/>
            <a:ext cx="749808" cy="29260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46304"/>
            <a:ext cx="6583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真實案例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475488"/>
            <a:ext cx="114300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遠傳心生活 Super App — 7 Agents，產品從零到一</a:t>
            </a:r>
          </a:p>
        </p:txBody>
      </p:sp>
      <p:sp>
        <p:nvSpPr>
          <p:cNvPr id="8" name="Rectangle 7"/>
          <p:cNvSpPr/>
          <p:nvPr/>
        </p:nvSpPr>
        <p:spPr>
          <a:xfrm>
            <a:off x="1371600" y="1078992"/>
            <a:ext cx="3017520" cy="475488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508760" y="1097280"/>
            <a:ext cx="14630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5A623"/>
                </a:solidFill>
              </a:rPr>
              <a:t>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51760" y="1152144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Agents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846320" y="1078992"/>
            <a:ext cx="3017520" cy="475488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983480" y="1097280"/>
            <a:ext cx="14630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5A623"/>
                </a:solidFill>
              </a:rPr>
              <a:t>30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79" y="1152144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完成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321040" y="1078992"/>
            <a:ext cx="3017520" cy="475488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58200" y="1097280"/>
            <a:ext cx="14630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5A623"/>
                </a:solidFill>
              </a:rPr>
              <a:t>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0" y="1152144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人工交接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1691640"/>
            <a:ext cx="1417320" cy="141732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0040" y="1737360"/>
            <a:ext cx="12801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PHASE
1
並行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3246120"/>
            <a:ext cx="1417320" cy="914400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20040" y="3291840"/>
            <a:ext cx="1280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PHASE
2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4279392"/>
            <a:ext cx="1417320" cy="822960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0040" y="4325112"/>
            <a:ext cx="1280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PHASE
3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5212080"/>
            <a:ext cx="1417320" cy="141732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20040" y="5257800"/>
            <a:ext cx="12801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PHASE
4
並行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920240" y="1719072"/>
            <a:ext cx="4297680" cy="621792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920240" y="1719072"/>
            <a:ext cx="82296" cy="62179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103120" y="1755648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F5A623"/>
                </a:solidFill>
              </a:rPr>
              <a:t>Trend Researcher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103120" y="2048255"/>
            <a:ext cx="4023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E"/>
                </a:solidFill>
              </a:rPr>
              <a:t>市場趨勢 + 競品矩陣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920240" y="2450592"/>
            <a:ext cx="4297680" cy="621792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920240" y="2450592"/>
            <a:ext cx="82296" cy="62179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103120" y="2487168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F5A623"/>
                </a:solidFill>
              </a:rPr>
              <a:t>Product Manager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103120" y="2779776"/>
            <a:ext cx="4023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E"/>
                </a:solidFill>
              </a:rPr>
              <a:t>PRD + User Stories + RICE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920240" y="3273552"/>
            <a:ext cx="4297680" cy="74980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920240" y="3273552"/>
            <a:ext cx="82296" cy="7498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103120" y="3310128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00B4D8"/>
                </a:solidFill>
              </a:rPr>
              <a:t>UX Architect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103120" y="3602736"/>
            <a:ext cx="4023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E"/>
                </a:solidFill>
              </a:rPr>
              <a:t>用戶旅程 + 線框圖規格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920240" y="4160520"/>
            <a:ext cx="4297680" cy="804672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920240" y="4160520"/>
            <a:ext cx="82296" cy="804672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103120" y="4197096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C00000"/>
                </a:solidFill>
              </a:rPr>
              <a:t>Software Architect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103120" y="4489704"/>
            <a:ext cx="4023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E"/>
                </a:solidFill>
              </a:rPr>
              <a:t>系統架構 + API Contract + DB Schema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920240" y="5074920"/>
            <a:ext cx="4297680" cy="621792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1920240" y="5074920"/>
            <a:ext cx="82296" cy="621792"/>
          </a:xfrm>
          <a:prstGeom prst="rect">
            <a:avLst/>
          </a:prstGeom>
          <a:solidFill>
            <a:srgbClr val="2DC6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103120" y="5111496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2DC653"/>
                </a:solidFill>
              </a:rPr>
              <a:t>Frontend Developer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103120" y="5404104"/>
            <a:ext cx="4023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E"/>
                </a:solidFill>
              </a:rPr>
              <a:t>HTML/CSS/JS 原型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920240" y="5779008"/>
            <a:ext cx="4297680" cy="621792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1920240" y="5779008"/>
            <a:ext cx="82296" cy="621792"/>
          </a:xfrm>
          <a:prstGeom prst="rect">
            <a:avLst/>
          </a:prstGeom>
          <a:solidFill>
            <a:srgbClr val="2DC6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103120" y="5815584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2DC653"/>
                </a:solidFill>
              </a:rPr>
              <a:t>Backend Architect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103120" y="6108192"/>
            <a:ext cx="4023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E"/>
                </a:solidFill>
              </a:rPr>
              <a:t>Node.js API + DB + 認證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840480" y="2377440"/>
            <a:ext cx="457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C00000"/>
                </a:solidFill>
              </a:rPr>
              <a:t>▼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840480" y="3154680"/>
            <a:ext cx="457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C00000"/>
                </a:solidFill>
              </a:rPr>
              <a:t>▼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840480" y="4096512"/>
            <a:ext cx="457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C00000"/>
                </a:solidFill>
              </a:rPr>
              <a:t>▼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840480" y="5047488"/>
            <a:ext cx="457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C00000"/>
                </a:solidFill>
              </a:rPr>
              <a:t>▼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492240" y="1719072"/>
            <a:ext cx="5303520" cy="129844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6492240" y="1719072"/>
            <a:ext cx="5303520" cy="64008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629400" y="1810512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A623"/>
                </a:solidFill>
              </a:rPr>
              <a:t>Phase 1 輸出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629400" y="2157984"/>
            <a:ext cx="5029200" cy="7955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市場報告 + PRD + User Stories
North Star Metric + RICE 優先級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492240" y="3127248"/>
            <a:ext cx="5303520" cy="8686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6492240" y="3127248"/>
            <a:ext cx="5303520" cy="640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629400" y="3218688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B4D8"/>
                </a:solidFill>
              </a:rPr>
              <a:t>Phase 2 輸出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629400" y="3566160"/>
            <a:ext cx="50292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用戶旅程圖 + IA + 線框圖規格
5 大互動設計原則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492240" y="4096512"/>
            <a:ext cx="5303520" cy="896112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6492240" y="4096512"/>
            <a:ext cx="5303520" cy="6400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629400" y="4187952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00000"/>
                </a:solidFill>
              </a:rPr>
              <a:t>Phase 3 輸出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629400" y="4535424"/>
            <a:ext cx="5029200" cy="393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API Contract + DB Schema
&lt; 300ms SLA 架構 + 個資合規設計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492240" y="5074920"/>
            <a:ext cx="5303520" cy="1170432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6492240" y="5074920"/>
            <a:ext cx="5303520" cy="64008"/>
          </a:xfrm>
          <a:prstGeom prst="rect">
            <a:avLst/>
          </a:prstGeom>
          <a:solidFill>
            <a:srgbClr val="2DC6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629400" y="5166359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DC653"/>
                </a:solidFill>
              </a:rPr>
              <a:t>Phase 4 輸出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629400" y="5513831"/>
            <a:ext cx="5029200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3 個可運作 HTML 頁面原型
6 個 RESTful API endpoints 上線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263640" y="202996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9BB0"/>
                </a:solidFill>
              </a:rPr>
              <a:t>─ ─ ─ ─ →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263640" y="361188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9BB0"/>
                </a:solidFill>
              </a:rPr>
              <a:t>─ ─ ─ ─ →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263640" y="455371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9BB0"/>
                </a:solidFill>
              </a:rPr>
              <a:t>─ ─ ─ ─ →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263640" y="537667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9BB0"/>
                </a:solidFill>
              </a:rPr>
              <a:t>─ ─ ─ ─ →</a:t>
            </a:r>
          </a:p>
        </p:txBody>
      </p:sp>
      <p:sp>
        <p:nvSpPr>
          <p:cNvPr id="73" name="Rectangle 72"/>
          <p:cNvSpPr/>
          <p:nvPr/>
        </p:nvSpPr>
        <p:spPr>
          <a:xfrm>
            <a:off x="8686800" y="914400"/>
            <a:ext cx="3200400" cy="4572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8732520" y="950976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Phase 5 → Reality Checker QA 驗證</a:t>
            </a:r>
          </a:p>
        </p:txBody>
      </p:sp>
      <p:sp>
        <p:nvSpPr>
          <p:cNvPr id="75" name="Rectangle 74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182880" y="6327648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遠傳 FET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9144000" y="6327648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</a:rPr>
              <a:t>AI 工作流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1795760" y="6327648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FFFFFF"/>
                </a:solidFill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28016"/>
            <a:ext cx="749808" cy="29260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46304"/>
            <a:ext cx="6583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技術底層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475488"/>
            <a:ext cx="114300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成功關鍵不是模型有多強，而是 Orchestration 設計有多清晰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188720"/>
            <a:ext cx="5486400" cy="8686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188720"/>
            <a:ext cx="91440" cy="86868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261872"/>
            <a:ext cx="5166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C00000"/>
                </a:solidFill>
              </a:rPr>
              <a:t>Orchestrator 調度中心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627632"/>
            <a:ext cx="5166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</a:rPr>
              <a:t>決定誰先跑 / 誰等誰 / 錯誤如何處理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194560"/>
            <a:ext cx="5486400" cy="8686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2194560"/>
            <a:ext cx="91440" cy="868680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2267712"/>
            <a:ext cx="5166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F3C78"/>
                </a:solidFill>
              </a:rPr>
              <a:t>Agent 1…N  各司其職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2633472"/>
            <a:ext cx="5166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</a:rPr>
              <a:t>每個 Agent = 專業角色 + 獨立 Context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200400"/>
            <a:ext cx="5486400" cy="8686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3200400"/>
            <a:ext cx="91440" cy="86868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3273552"/>
            <a:ext cx="5166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B4D8"/>
                </a:solidFill>
              </a:rPr>
              <a:t>Skills  專業知識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3639312"/>
            <a:ext cx="5166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</a:rPr>
              <a:t>封裝可重用的能力模組（搜尋/分析/格式化輸出）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4206240"/>
            <a:ext cx="5486400" cy="8686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7200" y="4206240"/>
            <a:ext cx="91440" cy="86868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4279392"/>
            <a:ext cx="5166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5A623"/>
                </a:solidFill>
              </a:rPr>
              <a:t>MCP  手腳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4645152"/>
            <a:ext cx="5166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</a:rPr>
              <a:t>連接外部系統（DB / API / 程式碼執行環境）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5212080"/>
            <a:ext cx="5486400" cy="7315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57200" y="5212080"/>
            <a:ext cx="91440" cy="731520"/>
          </a:xfrm>
          <a:prstGeom prst="rect">
            <a:avLst/>
          </a:prstGeom>
          <a:solidFill>
            <a:srgbClr val="2DC6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5800" y="5285232"/>
            <a:ext cx="5166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DC653"/>
                </a:solidFill>
              </a:rPr>
              <a:t>外部系統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5650992"/>
            <a:ext cx="5166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</a:rPr>
              <a:t>現有子系統 API / 資料庫 / 第三方服務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108960" y="2084831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C00000"/>
                </a:solidFill>
              </a:rPr>
              <a:t>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108960" y="3090672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C00000"/>
                </a:solidFill>
              </a:rPr>
              <a:t>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108960" y="4096512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C00000"/>
                </a:solidFill>
              </a:rPr>
              <a:t>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108960" y="5102352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C00000"/>
                </a:solidFill>
              </a:rPr>
              <a:t>↓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0" y="1188720"/>
            <a:ext cx="5394960" cy="47548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400800" y="1188720"/>
            <a:ext cx="5394960" cy="6400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37960" y="1261872"/>
            <a:ext cx="5120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C00000"/>
                </a:solidFill>
              </a:rPr>
              <a:t>與第一部分的連結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37960" y="1783080"/>
            <a:ext cx="51206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第一部分建立的 Skills + MCP
就是讓這些 Agent 真正能動的基礎建設
Skills（專業知識）
  ✦  Requirement AI Auditor
  ✦  Security &amp; Logic Auditor
  ✦  Auto Testing Agent
  ✦  Diagnostic &amp; Analysis Agent
MCP（手腳）
  ✦  10+ MCP Services 已上線
  ✦  連接程式碼執行 / DB / 外部 API
→ 社群 20+ Skills 可直接被 Workflow 呼叫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00800" y="5486400"/>
            <a:ext cx="5394960" cy="475488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537960" y="5532120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B4D8"/>
                </a:solidFill>
              </a:rPr>
              <a:t>AI 工作流 = 第一部分積木的組裝方式</a:t>
            </a:r>
          </a:p>
        </p:txBody>
      </p:sp>
      <p:sp>
        <p:nvSpPr>
          <p:cNvPr id="38" name="Rectangle 37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82880" y="6327648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遠傳 FET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44000" y="6327648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</a:rPr>
              <a:t>AI 工作流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795760" y="6327648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FFFFFF"/>
                </a:solidFill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28016"/>
            <a:ext cx="749808" cy="29260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46304"/>
            <a:ext cx="6583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應用場景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475488"/>
            <a:ext cx="114300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任何「多角色、多步驟、有依賴關係」的工作都可以 Workflow 化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325880"/>
            <a:ext cx="5577840" cy="20116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325880"/>
            <a:ext cx="5577840" cy="640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1325880"/>
            <a:ext cx="91440" cy="201168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1417320"/>
            <a:ext cx="5212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B4D8"/>
                </a:solidFill>
              </a:rPr>
              <a:t>客服升級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1920240"/>
            <a:ext cx="52120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意圖分析 → 知識檢索
→ 回應生成 → 品質審核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566160" y="2898648"/>
            <a:ext cx="2194560" cy="34747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11879" y="2926080"/>
            <a:ext cx="2103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處理時間 -60%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9360" y="1325880"/>
            <a:ext cx="5577840" cy="20116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9360" y="1325880"/>
            <a:ext cx="5577840" cy="6400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09360" y="1325880"/>
            <a:ext cx="91440" cy="201168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37960" y="1417320"/>
            <a:ext cx="5212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C00000"/>
                </a:solidFill>
              </a:rPr>
              <a:t>網路故障診斷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7960" y="1920240"/>
            <a:ext cx="52120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告警收集 → 根因分析
→ 修復建議 → 工單生成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509760" y="2898648"/>
            <a:ext cx="2194560" cy="347472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555480" y="2926080"/>
            <a:ext cx="2103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MTTR 大幅縮短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3611880"/>
            <a:ext cx="5577840" cy="20116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65760" y="3611880"/>
            <a:ext cx="5577840" cy="64008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65760" y="3611880"/>
            <a:ext cx="91440" cy="201168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4360" y="3703320"/>
            <a:ext cx="5212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5A623"/>
                </a:solidFill>
              </a:rPr>
              <a:t>行銷內容工廠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4206240"/>
            <a:ext cx="52120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市場研究 → 文案生成
→ SEO 審核 → 多平台輸出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66160" y="5184648"/>
            <a:ext cx="2194560" cy="34747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11879" y="5212080"/>
            <a:ext cx="2103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產出量 10×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309360" y="3611880"/>
            <a:ext cx="5577840" cy="20116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309360" y="3611880"/>
            <a:ext cx="5577840" cy="64008"/>
          </a:xfrm>
          <a:prstGeom prst="rect">
            <a:avLst/>
          </a:prstGeom>
          <a:solidFill>
            <a:srgbClr val="2DC6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309360" y="3611880"/>
            <a:ext cx="91440" cy="2011680"/>
          </a:xfrm>
          <a:prstGeom prst="rect">
            <a:avLst/>
          </a:prstGeom>
          <a:solidFill>
            <a:srgbClr val="2DC6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37960" y="3703320"/>
            <a:ext cx="5212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2DC653"/>
                </a:solidFill>
              </a:rPr>
              <a:t>法規合規審查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37960" y="4206240"/>
            <a:ext cx="52120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文件解析 → 條文比對
→ 風險標記 → 報告生成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509760" y="5184648"/>
            <a:ext cx="2194560" cy="347472"/>
          </a:xfrm>
          <a:prstGeom prst="rect">
            <a:avLst/>
          </a:prstGeom>
          <a:solidFill>
            <a:srgbClr val="2DC6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555480" y="5212080"/>
            <a:ext cx="2103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人工審查 -80%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65760" y="5897880"/>
            <a:ext cx="11430000" cy="411480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48640" y="5925312"/>
            <a:ext cx="11064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00B4D8"/>
                </a:solidFill>
              </a:rPr>
              <a:t>💬  你現在浮現哪個場景？邀請 1-2 位說出來，現場快速拆解 Agent 架構</a:t>
            </a:r>
          </a:p>
        </p:txBody>
      </p:sp>
      <p:sp>
        <p:nvSpPr>
          <p:cNvPr id="38" name="Rectangle 37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82880" y="6327648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遠傳 FET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44000" y="6327648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</a:rPr>
              <a:t>AI 工作流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795760" y="6327648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FFFFFF"/>
                </a:solidFill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36576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</a:rPr>
              <a:t>AI 工作流不是未來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09728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5A623"/>
                </a:solidFill>
              </a:rPr>
              <a:t>是現在可以開始的事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920240"/>
            <a:ext cx="5486400" cy="36576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2103120"/>
            <a:ext cx="3566160" cy="36576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2103120"/>
            <a:ext cx="3566160" cy="6400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240279"/>
            <a:ext cx="1097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C00000"/>
                </a:solidFill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97180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識別場景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3520439"/>
            <a:ext cx="3017520" cy="36576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675887"/>
            <a:ext cx="32004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C4DE"/>
                </a:solidFill>
              </a:rPr>
              <a:t>找出工作中一個需要
3 個不同專業視角的任務
這就是你的第一個 Multi-Agent 場景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97680" y="2103120"/>
            <a:ext cx="3566160" cy="36576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97680" y="2103120"/>
            <a:ext cx="3566160" cy="640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80560" y="2240279"/>
            <a:ext cx="1097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00B4D8"/>
                </a:solidFill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60" y="297180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套用框架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480560" y="3520439"/>
            <a:ext cx="301752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80560" y="3675887"/>
            <a:ext cx="32004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C4DE"/>
                </a:solidFill>
              </a:rPr>
              <a:t>角色專一 + 結構化交接
選好 Sequential / Parallel 編排
Ouput 格式設計好，其餘交給 AI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138160" y="2103120"/>
            <a:ext cx="3566160" cy="36576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138160" y="2103120"/>
            <a:ext cx="3566160" cy="64008"/>
          </a:xfrm>
          <a:prstGeom prst="rect">
            <a:avLst/>
          </a:prstGeom>
          <a:solidFill>
            <a:srgbClr val="2DC6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21040" y="2240279"/>
            <a:ext cx="1097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2DC653"/>
                </a:solidFill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21040" y="297180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加入社群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321040" y="3520439"/>
            <a:ext cx="3017520" cy="36576"/>
          </a:xfrm>
          <a:prstGeom prst="rect">
            <a:avLst/>
          </a:prstGeom>
          <a:solidFill>
            <a:srgbClr val="2DC6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21040" y="3675887"/>
            <a:ext cx="32004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C4DE"/>
                </a:solidFill>
              </a:rPr>
              <a:t>遠傳 AI 工作室
20+ Skills、10+ MCP 可直接取用
不用從零開始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11480" y="5897880"/>
            <a:ext cx="11430000" cy="41148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94360" y="5925312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下週就可以有產出 — 從 3 個 Agent 的小流程開始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82880" y="6327648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遠傳 FET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0" y="6327648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</a:rPr>
              <a:t>AI 工作流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795760" y="6327648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FFFFFF"/>
                </a:solidFill>
              </a:rPr>
              <a:t>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