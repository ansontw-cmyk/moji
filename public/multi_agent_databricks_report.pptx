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91440" cy="2926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36576" cy="29260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多 Agent AI 智慧決策平台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4D8"/>
                </a:solidFill>
              </a:rPr>
              <a:t>Multi-Agent AI Intelligence Decision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DFF"/>
                </a:solidFill>
              </a:rPr>
              <a:t>基於 Databricks 的跨域資料融合與商業洞察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172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AACC"/>
                </a:solidFill>
              </a:rPr>
              <a:t>2025  |  Powered by AI Multi-Agent Architecture  |  Databricks Lakehouse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029200"/>
            <a:ext cx="1920240" cy="822960"/>
          </a:xfrm>
          <a:prstGeom prst="rect">
            <a:avLst/>
          </a:prstGeom>
          <a:solidFill>
            <a:srgbClr val="00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02352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🛒 購物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5029200"/>
            <a:ext cx="1920240" cy="822960"/>
          </a:xfrm>
          <a:prstGeom prst="rect">
            <a:avLst/>
          </a:prstGeom>
          <a:solidFill>
            <a:srgbClr val="00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5102352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📱 電信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5029200"/>
            <a:ext cx="1920240" cy="822960"/>
          </a:xfrm>
          <a:prstGeom prst="rect">
            <a:avLst/>
          </a:prstGeom>
          <a:solidFill>
            <a:srgbClr val="00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5102352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💳 DCB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5029200"/>
            <a:ext cx="1920240" cy="822960"/>
          </a:xfrm>
          <a:prstGeom prst="rect">
            <a:avLst/>
          </a:prstGeom>
          <a:solidFill>
            <a:srgbClr val="00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5102352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🚗 停車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5029200"/>
            <a:ext cx="1920240" cy="822960"/>
          </a:xfrm>
          <a:prstGeom prst="rect">
            <a:avLst/>
          </a:prstGeom>
          <a:solidFill>
            <a:srgbClr val="00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5102352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🛡️ 保險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"/>
            <a:ext cx="73152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628"/>
                </a:solidFill>
              </a:rPr>
              <a:t>執行摘要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</a:rPr>
              <a:t>Executive Summary — Key Highlights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69748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69748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🔗 5大異質資料源整合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2423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D3D3D"/>
                </a:solidFill>
              </a:rPr>
              <a:t>購物 / 電信 / DCB / 停車 / 保險
統一接入 Databricks Lakehouse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371600"/>
            <a:ext cx="269748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371600"/>
            <a:ext cx="2697480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38988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🤖 9個專業AI Agent協同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965960"/>
            <a:ext cx="2423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D3D3D"/>
                </a:solidFill>
              </a:rPr>
              <a:t>各司其職的智慧代理人
自動協調、並行分析、交叉驗證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371600"/>
            <a:ext cx="269748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71600"/>
            <a:ext cx="269748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38988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⚡ 即時洞察 + 預測分析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965960"/>
            <a:ext cx="2423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D3D3D"/>
                </a:solidFill>
              </a:rPr>
              <a:t>毫秒級查詢 × 機器學習模型
從描述→預測→規範性決策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371600"/>
            <a:ext cx="269748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80" y="1371600"/>
            <a:ext cx="2697480" cy="50292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138988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💰 可量化的商業價值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1965960"/>
            <a:ext cx="2423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D3D3D"/>
                </a:solidFill>
              </a:rPr>
              <a:t>行銷ROI +35% / 流失率 -28%
詐欺損失 -42% / 決策速度 +60%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"/>
            <a:ext cx="73152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628"/>
                </a:solidFill>
              </a:rPr>
              <a:t>挑戰與機會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</a:rPr>
              <a:t>Challenge &amp; Opportunity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394960" cy="5212080"/>
          </a:xfrm>
          <a:prstGeom prst="rect">
            <a:avLst/>
          </a:prstGeom>
          <a:solidFill>
            <a:srgbClr val="FFF0EC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39496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⚠️  現有痛點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</a:rPr>
              <a:t>● 資料孤島：各系統資料無法互通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24327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</a:rPr>
              <a:t>● 人工分析：報表產出慢，時效性差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74135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</a:rPr>
              <a:t>● 決策滯後：洞察到行動之間落差大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23944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</a:rPr>
              <a:t>● 人才瓶頸：數據科學家資源有限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7375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</a:rPr>
              <a:t>● 機會流失：無法即時捕捉消費信號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394960" cy="5212080"/>
          </a:xfrm>
          <a:prstGeom prst="rect">
            <a:avLst/>
          </a:prstGeom>
          <a:solidFill>
            <a:srgbClr val="ECFBF5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280160"/>
            <a:ext cx="539496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2984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✅  Multi-Agent 解方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7451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</a:rPr>
              <a:t>◆ 統一平台：Databricks 整合所有資料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24327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</a:rPr>
              <a:t>◆ 自動分析：Agent 7×24 持續運行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74135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</a:rPr>
              <a:t>◆ 即時決策：秒級洞察直達業務端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23944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</a:rPr>
              <a:t>◆ 規模智慧：AI 代替人力執行分析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87375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</a:rPr>
              <a:t>◆ 精準捕捉：360度客戶行為即時感知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4747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B4D8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"/>
            <a:ext cx="73152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Databricks 資料資產全景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194560" cy="5303520"/>
          </a:xfrm>
          <a:prstGeom prst="rect">
            <a:avLst/>
          </a:prstGeom>
          <a:solidFill>
            <a:srgbClr val="0022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219456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購物資料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420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B4D8"/>
                </a:solidFill>
              </a:rPr>
              <a:t>Shopping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926080"/>
            <a:ext cx="1920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DDFF"/>
                </a:solidFill>
              </a:rPr>
              <a:t>• 消費行為記錄
• 品類偏好分析
• 購買頻率/金額
• 會員積點軌跡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39" y="1143000"/>
            <a:ext cx="2194560" cy="5303520"/>
          </a:xfrm>
          <a:prstGeom prst="rect">
            <a:avLst/>
          </a:prstGeom>
          <a:solidFill>
            <a:srgbClr val="002240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6039" y="1143000"/>
            <a:ext cx="2194560" cy="9144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39" y="1143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2148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電信資料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25420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6D6A0"/>
                </a:solidFill>
              </a:rPr>
              <a:t>Telecom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199" y="2926080"/>
            <a:ext cx="1920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DDFF"/>
                </a:solidFill>
              </a:rPr>
              <a:t>• 通話/簡訊記錄
• 上網行為數據
• 基地台位置軌跡
• 方案訂閱狀態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59" y="1143000"/>
            <a:ext cx="2194560" cy="5303520"/>
          </a:xfrm>
          <a:prstGeom prst="rect">
            <a:avLst/>
          </a:prstGeom>
          <a:solidFill>
            <a:srgbClr val="002240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59" y="1143000"/>
            <a:ext cx="2194560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1143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199" y="2148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DCB交易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199" y="25420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6B35"/>
                </a:solidFill>
              </a:rPr>
              <a:t>DCB Transactions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19" y="2926080"/>
            <a:ext cx="1920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DDFF"/>
                </a:solidFill>
              </a:rPr>
              <a:t>• 電信代收帳單
• 小額支付記錄
• 訂閱服務明細
• 跨平台交易流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79" y="1143000"/>
            <a:ext cx="2194560" cy="5303520"/>
          </a:xfrm>
          <a:prstGeom prst="rect">
            <a:avLst/>
          </a:prstGeom>
          <a:solidFill>
            <a:srgbClr val="002240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69479" y="1143000"/>
            <a:ext cx="2194560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79" y="1143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19" y="2148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停車資料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19" y="25420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B2FBE"/>
                </a:solidFill>
              </a:rPr>
              <a:t>Parking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39" y="2926080"/>
            <a:ext cx="1920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DDFF"/>
                </a:solidFill>
              </a:rPr>
              <a:t>• 停車場進出記錄
• 地理位置分佈
• 停留時段分析
• 鄰近商圈關聯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1143000"/>
            <a:ext cx="2194560" cy="5303520"/>
          </a:xfrm>
          <a:prstGeom prst="rect">
            <a:avLst/>
          </a:prstGeom>
          <a:solidFill>
            <a:srgbClr val="002240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01200" y="1143000"/>
            <a:ext cx="2194560" cy="9144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1143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148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保險資料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5420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C300"/>
                </a:solidFill>
              </a:rPr>
              <a:t>Insurance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2926080"/>
            <a:ext cx="1920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DDFF"/>
                </a:solidFill>
              </a:rPr>
              <a:t>• 保單持有資訊
• 理賠申請記錄
• 個人風險評分
• 產品交叉持有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多Agent協作架構 | Multi-Agent Architecture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22960"/>
            <a:ext cx="1188720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"/>
            <a:ext cx="73152" cy="50292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628"/>
                </a:solidFill>
              </a:rPr>
              <a:t>Agent 角色分工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</a:rPr>
              <a:t>Agent Roles &amp; Responsibilities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11521440" cy="38404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2618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輸入資料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2618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核心功能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261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輸出成果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18488"/>
            <a:ext cx="11521440" cy="47548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618488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169164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資料協調 Orchestrator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04288" y="1691640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全域資料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169164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排程、協調、任務分派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169164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執行計劃 + 狀態報告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121408"/>
            <a:ext cx="11521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121408"/>
            <a:ext cx="109728" cy="4754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219456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購物分析 Shopping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4288" y="2194560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消費交易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219456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RFM分群、籃子分析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21945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客群標籤 + 推薦清單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624328"/>
            <a:ext cx="11521440" cy="47548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2624328"/>
            <a:ext cx="109728" cy="4754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26974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電信分析 Telecom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04288" y="2697480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通聯資料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26974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流失預警、生活型態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8" y="269748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預警名單 + 行為畫像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127248"/>
            <a:ext cx="11521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127248"/>
            <a:ext cx="109728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" y="320040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DCB交易 Payment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04288" y="3200400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支付記錄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8" y="320040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消費模式、能力評估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3408" y="320040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信用標籤 + 異常警示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630168"/>
            <a:ext cx="11521440" cy="47548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3630168"/>
            <a:ext cx="109728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" y="370332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停車洞察 Parking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04288" y="3703320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位置資料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07408" y="370332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熱力分析、商圈識別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3408" y="370332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選址報告 + 投放建議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133087"/>
            <a:ext cx="11521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4133087"/>
            <a:ext cx="109728" cy="47548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8" y="4206239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保險風控 Insurance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04288" y="4206239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保單理賠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07408" y="4206239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風險評分、交叉推薦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3408" y="4206239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風險分層 + 產品清單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636008"/>
            <a:ext cx="11521440" cy="47548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" y="4636008"/>
            <a:ext cx="109728" cy="47548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9768" y="470916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跨域融合 Fusion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04288" y="4709160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多源整合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07408" y="470916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360°畫像、信號融合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93408" y="47091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統一客戶畫像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5138928"/>
            <a:ext cx="11521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0040" y="5138928"/>
            <a:ext cx="109728" cy="47548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9768" y="52120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商業推薦 Biz Reco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04288" y="5212080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洞察結果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07408" y="52120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決策生成、行動建議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93408" y="521208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商機清單 + 策略書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5641848"/>
            <a:ext cx="11521440" cy="47548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0040" y="5641848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9768" y="571500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報告生成 Reporter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04288" y="5715000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全部輸出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07408" y="571500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PPT/PDF/Dashboard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93408" y="571500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D3D3D"/>
                </a:solidFill>
              </a:rPr>
              <a:t>自動化報告交付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"/>
            <a:ext cx="73152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628"/>
                </a:solidFill>
              </a:rPr>
              <a:t>購物資料洞察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</a:rPr>
              <a:t>Shopping Intelligence Agent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5029200" cy="5303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1325880"/>
            <a:ext cx="54864" cy="10972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3D3D"/>
                </a:solidFill>
              </a:rPr>
              <a:t>🎯 RFM 客戶分群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09928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555"/>
                </a:solidFill>
              </a:rPr>
              <a:t>依 Recency / Frequency / Monetary
精準識別高價值客群，差異化行銷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51760"/>
            <a:ext cx="54864" cy="10972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65176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3D3D"/>
                </a:solidFill>
              </a:rPr>
              <a:t>🔄 購買週期預測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35808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555"/>
                </a:solidFill>
              </a:rPr>
              <a:t>機器學習預測下次購買時機
主動推送提醒，提升復購率 +23%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977639"/>
            <a:ext cx="54864" cy="10972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77639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3D3D"/>
                </a:solidFill>
              </a:rPr>
              <a:t>🛍️ 商品關聯推薦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61687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555"/>
                </a:solidFill>
              </a:rPr>
              <a:t>Market Basket Analysis
「買了A也買B」即時推薦，連帶銷售 +18%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303520"/>
            <a:ext cx="54864" cy="10972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30352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3D3D"/>
                </a:solidFill>
              </a:rPr>
              <a:t>📅 節慶消費預測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687568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555"/>
                </a:solidFill>
              </a:rPr>
              <a:t>節日前4週啟動備貨與行銷
庫存準確率提升 35%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"/>
            <a:ext cx="73152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628"/>
                </a:solidFill>
              </a:rPr>
              <a:t>電信資料應用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</a:rPr>
              <a:t>Telecom Intelligence Agent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188720"/>
            <a:ext cx="457200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1325880"/>
            <a:ext cx="54864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3D3D"/>
                </a:solidFill>
              </a:rPr>
              <a:t>📉 客戶流失預警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09928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555"/>
                </a:solidFill>
              </a:rPr>
              <a:t>多維指標偵測流失信號
預測準確率達 87%，提前30天介入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51760"/>
            <a:ext cx="54864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651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3D3D"/>
                </a:solidFill>
              </a:rPr>
              <a:t>🗺️ 生活型態分析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35808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555"/>
                </a:solidFill>
              </a:rPr>
              <a:t>上網行為 × 位置軌跡 × 消費時段
建構「數位生活型態標籤」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977639"/>
            <a:ext cx="54864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77639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3D3D"/>
                </a:solidFill>
              </a:rPr>
              <a:t>📍 商圈位置洞察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61687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555"/>
                </a:solidFill>
              </a:rPr>
              <a:t>基地台軌跡還原活動範圍
商圈人流量 / 競品場域識別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303520"/>
            <a:ext cx="54864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3035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3D3D"/>
                </a:solidFill>
              </a:rPr>
              <a:t>📊 ARPU 提升策略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687568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555"/>
                </a:solidFill>
              </a:rPr>
              <a:t>用量行為識別升級時機
精準推送方案，ARPU +15%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"/>
            <a:ext cx="73152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628"/>
                </a:solidFill>
              </a:rPr>
              <a:t>DCB 交易資料分析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</a:rPr>
              <a:t>DCB Payment Intelligence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36576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36576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25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💳 小額支付模式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10512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D3D3D"/>
                </a:solidFill>
              </a:rPr>
              <a:t>分析電信代收交易頻率與金額
識別高活躍消費用戶，LTV預測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280160"/>
            <a:ext cx="36576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280160"/>
            <a:ext cx="36576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399" y="1325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📦 訂閱服務分析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1810512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D3D3D"/>
                </a:solidFill>
              </a:rPr>
              <a:t>訂閱品項偏好 × 續約率分析
主動推薦相關服務，ARPPU +20%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280160"/>
            <a:ext cx="36576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280160"/>
            <a:ext cx="36576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325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💰 消費能力評估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1810512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D3D3D"/>
                </a:solidFill>
              </a:rPr>
              <a:t>支付行為建構替代信用模型
服務無信用紀錄族群，普惠金融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11879"/>
            <a:ext cx="36576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11879"/>
            <a:ext cx="36576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65759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🚨 詐欺偵測引擎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42231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D3D3D"/>
                </a:solidFill>
              </a:rPr>
              <a:t>即時異常交易識別（&lt;100ms）
規則引擎 + ML模型雙重防護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3611879"/>
            <a:ext cx="36576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59" y="3611879"/>
            <a:ext cx="36576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399" y="365759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🔗 跨平台整合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19" y="4142231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D3D3D"/>
                </a:solidFill>
              </a:rPr>
              <a:t>DCB × 電商 × 實體通路串聯
全渠道消費行為統一視圖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"/>
            <a:ext cx="73152" cy="50292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628"/>
                </a:solidFill>
              </a:rPr>
              <a:t>停車資料商機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</a:rPr>
              <a:t>Parking Intelligence Agent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21208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1325880"/>
            <a:ext cx="54864" cy="109728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3D3D"/>
                </a:solidFill>
              </a:rPr>
              <a:t>📍 商圈熱力圖分析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09928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555"/>
                </a:solidFill>
              </a:rPr>
              <a:t>停車數據還原商圈人流密度
識別黃金時段與冷熱區域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51760"/>
            <a:ext cx="54864" cy="109728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6517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3D3D"/>
                </a:solidFill>
              </a:rPr>
              <a:t>🛒 停車×消費關聯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35808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555"/>
                </a:solidFill>
              </a:rPr>
              <a:t>停車後2小時內消費配對分析
衍生「停車優惠券」導客入店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977639"/>
            <a:ext cx="54864" cy="109728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77639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3D3D"/>
                </a:solidFill>
              </a:rPr>
              <a:t>🏪 零售選址決策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61687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555"/>
                </a:solidFill>
              </a:rPr>
              <a:t>AI分析人流/競品/可及性
選址準確率提升 40%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303520"/>
            <a:ext cx="54864" cy="109728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3035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3D3D"/>
                </a:solidFill>
              </a:rPr>
              <a:t>📢 情境廣告投放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687568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555"/>
                </a:solidFill>
              </a:rPr>
              <a:t>進場瞬間精準推播附近優惠
廣告點擊率提升 3.2倍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"/>
            <a:ext cx="73152" cy="50292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628"/>
                </a:solidFill>
              </a:rPr>
              <a:t>保險資料決策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</a:rPr>
              <a:t>Insurance Intelligence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36576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3657600" cy="4572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25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1628"/>
                </a:solidFill>
              </a:rPr>
              <a:t>🎯 個人化風險評分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10512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D3D3D"/>
                </a:solidFill>
              </a:rPr>
              <a:t>結合行為數據重新定義風險
非傳統信用指標，服務更多客群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280160"/>
            <a:ext cx="36576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280160"/>
            <a:ext cx="365760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399" y="1325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📋 精準產品推薦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1810512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D3D3D"/>
                </a:solidFill>
              </a:rPr>
              <a:t>保單空白識別 + 需求預測
交叉推薦成功率 +34%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280160"/>
            <a:ext cx="36576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280160"/>
            <a:ext cx="36576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325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🚨 理賠詐欺偵測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1810512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D3D3D"/>
                </a:solidFill>
              </a:rPr>
              <a:t>多源資料交叉比對
異常理賠識別準確率 91%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11879"/>
            <a:ext cx="36576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11879"/>
            <a:ext cx="36576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65759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🔄 客戶生命週期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42231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D3D3D"/>
                </a:solidFill>
              </a:rPr>
              <a:t>從首購→增購→挽留全程追蹤
CLV 提升策略自動執行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3611879"/>
            <a:ext cx="36576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59" y="3611879"/>
            <a:ext cx="3657600" cy="4572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399" y="365759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📈 動態費率定價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19" y="4142231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D3D3D"/>
                </a:solidFill>
              </a:rPr>
              <a:t>行為數據驅動精算模型更新
定價精準度提升 28%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3611879"/>
            <a:ext cx="36576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79" y="3611879"/>
            <a:ext cx="3657600" cy="4572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19" y="365759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1628"/>
                </a:solidFill>
              </a:rPr>
              <a:t>🤝 跨售機會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39" y="4142231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D3D3D"/>
                </a:solidFill>
              </a:rPr>
              <a:t>保險 × 電信 × 消費行為融合
辨識最佳跨售時機與產品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跨域資料融合洞察 | Cross-Domain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05840"/>
            <a:ext cx="3749039" cy="5303520"/>
          </a:xfrm>
          <a:prstGeom prst="rect">
            <a:avLst/>
          </a:prstGeom>
          <a:solidFill>
            <a:srgbClr val="002240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3749039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2412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🔵 + 🟣 + 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57276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</a:rPr>
              <a:t>電信位置 × 停車軌跡 × 購物消費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031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</a:rPr>
              <a:t>→ 精準商圈行銷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0604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DDFF"/>
                </a:solidFill>
              </a:rPr>
              <a:t>識別消費者常駐商圈，
在進停車場時推播個人化優惠券，
轉化率提升 4.5倍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074920"/>
            <a:ext cx="301752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09320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📊  +52% 行銷效益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15384" y="1005840"/>
            <a:ext cx="3749039" cy="5303520"/>
          </a:xfrm>
          <a:prstGeom prst="rect">
            <a:avLst/>
          </a:prstGeom>
          <a:solidFill>
            <a:srgbClr val="00224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15384" y="1005840"/>
            <a:ext cx="3749039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6824" y="102412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🟠 + 🟡 + 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6824" y="157276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</a:rPr>
              <a:t>DCB支付 × 保險持有 × 購物行為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6824" y="21031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</a:rPr>
              <a:t>→ 個人信用風險畫像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260604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DDFF"/>
                </a:solidFill>
              </a:rPr>
              <a:t>建構替代信用評分，
無卡族也能獲得金融服務資格，
核批率提升 38%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81144" y="5074920"/>
            <a:ext cx="3017520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81144" y="509320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📊  +38% 核批提升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02168" y="1005840"/>
            <a:ext cx="3749039" cy="5303520"/>
          </a:xfrm>
          <a:prstGeom prst="rect">
            <a:avLst/>
          </a:prstGeom>
          <a:solidFill>
            <a:srgbClr val="002240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02168" y="1005840"/>
            <a:ext cx="3749039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102412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全域整合
5大資料源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157276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</a:rPr>
              <a:t>購物 + 電信 + DCB + 停車 + 保險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21031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D6A0"/>
                </a:solidFill>
              </a:rPr>
              <a:t>→ 360° 客戶智慧畫像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260604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DDFF"/>
                </a:solidFill>
              </a:rPr>
              <a:t>9個Agent協同分析，
實時更新客戶洞察標籤，
個人化服務覆蓋率 95%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67928" y="5074920"/>
            <a:ext cx="3017520" cy="5943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67928" y="509320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628"/>
                </a:solidFill>
              </a:rPr>
              <a:t>📊  95% 客戶覆蓋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"/>
            <a:ext cx="73152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628"/>
                </a:solidFill>
              </a:rPr>
              <a:t>AI 驅動決策引擎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</a:rPr>
              <a:t>AI-Powered Decision Engine — 3 Levels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11521440" cy="1417320"/>
          </a:xfrm>
          <a:prstGeom prst="rect">
            <a:avLst/>
          </a:prstGeom>
          <a:solidFill>
            <a:srgbClr val="F4F6F9"/>
          </a:solidFill>
          <a:ln w="19050">
            <a:solidFill>
              <a:srgbClr val="3D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1463040" cy="141732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7373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回顧過去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325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3D3D"/>
                </a:solidFill>
              </a:rPr>
              <a:t>📊 描述性分析 | Descriptive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755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</a:rPr>
              <a:t>發生了什麼？ · What happened?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103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3D3D"/>
                </a:solidFill>
              </a:rPr>
              <a:t>即時 Dashboard · 自動報表 · KPI監控
Databricks SQL + Delta Live Tables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834640"/>
            <a:ext cx="11521440" cy="1417320"/>
          </a:xfrm>
          <a:prstGeom prst="rect">
            <a:avLst/>
          </a:prstGeom>
          <a:solidFill>
            <a:srgbClr val="E8F5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834640"/>
            <a:ext cx="1463040" cy="1417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2918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洞察未來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880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3D3D"/>
                </a:solidFill>
              </a:rPr>
              <a:t>🔮 預測性分析 | Predictive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3101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</a:rPr>
              <a:t>將會發生什麼？ · What will happen?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657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3D3D"/>
                </a:solidFill>
              </a:rPr>
              <a:t>客戶流失預測 · 需求預測 · 風險評分
MLflow + Databricks AutoML + Feature Store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389120"/>
            <a:ext cx="11521440" cy="1417320"/>
          </a:xfrm>
          <a:prstGeom prst="rect">
            <a:avLst/>
          </a:prstGeom>
          <a:solidFill>
            <a:srgbClr val="EAFBF4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4389120"/>
            <a:ext cx="1463040" cy="14173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84632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自動決策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434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3D3D"/>
                </a:solidFill>
              </a:rPr>
              <a:t>🎯 規範性分析 | Prescriptive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8646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</a:rPr>
              <a:t>應該怎麼做？ · What should we do?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521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3D3D"/>
                </a:solidFill>
              </a:rPr>
              <a:t>Agent自動生成行動建議 · 即時干預執行
Multi-Agent LLM + Databricks Workflows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"/>
            <a:ext cx="73152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628"/>
                </a:solidFill>
              </a:rPr>
              <a:t>商業應用場景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</a:rPr>
              <a:t>Business Use Cases — 6 High-Value Scenarios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3703320" cy="2240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3703320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2588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🎯 精準行銷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2880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D6A0"/>
                </a:solidFill>
              </a:rPr>
              <a:t>跨資料客群鎖定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12848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3D3D"/>
                </a:solidFill>
              </a:rPr>
              <a:t>5源資料交叉建構精準受眾
轉換率提升 45%，CPL降低 30%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280160"/>
            <a:ext cx="3703320" cy="2240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280160"/>
            <a:ext cx="37033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399" y="132588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💳 信用評估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182880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</a:rPr>
              <a:t>替代數據信用模型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39" y="2212848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3D3D"/>
                </a:solidFill>
              </a:rPr>
              <a:t>DCB+消費+電信建構信用分
無卡族核批率 +38%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280160"/>
            <a:ext cx="3703320" cy="2240280"/>
          </a:xfrm>
          <a:prstGeom prst="rect">
            <a:avLst/>
          </a:prstGeom>
          <a:solidFill>
            <a:srgbClr val="FFFFFF"/>
          </a:solidFill>
          <a:ln w="254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280160"/>
            <a:ext cx="3703320" cy="50292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132588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🏪 智慧選址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182880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B2FBE"/>
                </a:solidFill>
              </a:rPr>
              <a:t>AI驅動展店決策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2212848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3D3D"/>
                </a:solidFill>
              </a:rPr>
              <a:t>停車+人流+競品分析選址
選址成功率提升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749039"/>
            <a:ext cx="3703320" cy="22402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749039"/>
            <a:ext cx="370332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794759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💰 動態定價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297679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6B35"/>
                </a:solidFill>
              </a:rPr>
              <a:t>即時需求感知定價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681727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3D3D"/>
                </a:solidFill>
              </a:rPr>
              <a:t>時段×人流×庫存三角定價
毛利率提升 12%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59" y="3749039"/>
            <a:ext cx="3703320" cy="2240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59" y="3749039"/>
            <a:ext cx="3703320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399" y="3794759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🔄 客戶挽留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399" y="4297679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D6A0"/>
                </a:solidFill>
              </a:rPr>
              <a:t>流失預警即時介入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39" y="4681727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3D3D"/>
                </a:solidFill>
              </a:rPr>
              <a:t>電信行為偵測30天前預警
挽留成功率 67%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79" y="3749039"/>
            <a:ext cx="3703320" cy="22402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79" y="3749039"/>
            <a:ext cx="370332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19" y="3794759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🛡️ 風險控管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4297679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6B35"/>
                </a:solidFill>
              </a:rPr>
              <a:t>多維度詐欺偵測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59" y="4681727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3D3D"/>
                </a:solidFill>
              </a:rPr>
              <a:t>DCB+保險+行為三層防護
詐欺損失減少 42%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"/>
            <a:ext cx="73152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628"/>
                </a:solidFill>
              </a:rPr>
              <a:t>商業價值量化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</a:rPr>
              <a:t>Quantified Business Value &amp; ROI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400800" cy="5486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49440" y="1188720"/>
            <a:ext cx="493776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1188720"/>
            <a:ext cx="1005840" cy="1234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463040"/>
            <a:ext cx="1005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2984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</a:rPr>
              <a:t>決策速度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737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4D8"/>
                </a:solidFill>
              </a:rPr>
              <a:t>提升 60%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2560320"/>
            <a:ext cx="493776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49440" y="2560320"/>
            <a:ext cx="1005840" cy="1234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834640"/>
            <a:ext cx="1005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6700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</a:rPr>
              <a:t>詐欺損失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1089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B35"/>
                </a:solidFill>
              </a:rPr>
              <a:t>減少 42%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3931920"/>
            <a:ext cx="493776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0" y="3931920"/>
            <a:ext cx="1005840" cy="12344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4206240"/>
            <a:ext cx="1005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041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</a:rPr>
              <a:t>行銷 ROI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4805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6D6A0"/>
                </a:solidFill>
              </a:rPr>
              <a:t>提升 35%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5303520"/>
            <a:ext cx="493776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0" y="5303520"/>
            <a:ext cx="1005840" cy="123444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5577840"/>
            <a:ext cx="1005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54132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</a:rPr>
              <a:t>客戶 LTV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8521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B2FBE"/>
                </a:solidFill>
              </a:rPr>
              <a:t>提升 22%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"/>
            <a:ext cx="73152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628"/>
                </a:solidFill>
              </a:rPr>
              <a:t>實施路徑圖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</a:rPr>
              <a:t>Implementation Roadmap — 4 Phases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057400"/>
            <a:ext cx="11521440" cy="1097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20" y="1920240"/>
            <a:ext cx="32004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2788920" cy="4160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2788920" cy="731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18872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</a:rPr>
              <a:t>Phase 1
M1–M2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50008"/>
            <a:ext cx="2697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資料整合
&amp; Lakehouse建置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54680"/>
            <a:ext cx="2514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D3D3D"/>
                </a:solidFill>
              </a:rPr>
              <a:t>• 資料盤點 &amp; 品質評估
• Unity Catalog架構設計
• Delta Lake接入管線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1920240"/>
            <a:ext cx="320040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73552" y="2331720"/>
            <a:ext cx="2788920" cy="4160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73552" y="2331720"/>
            <a:ext cx="2788920" cy="7315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9272" y="118872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D6A0"/>
                </a:solidFill>
              </a:rPr>
              <a:t>Phase 2
M3–M4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9272" y="2350008"/>
            <a:ext cx="2697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Agent開發
&amp; 模型訓練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3154680"/>
            <a:ext cx="2514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D3D3D"/>
                </a:solidFill>
              </a:rPr>
              <a:t>• 9個Agent框架建置
• ML特徵工程 &amp; 訓練
• POC場景驗證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32904" y="1920240"/>
            <a:ext cx="32004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2331720"/>
            <a:ext cx="2788920" cy="4160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2331720"/>
            <a:ext cx="2788920" cy="7315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27064" y="118872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6B35"/>
                </a:solidFill>
              </a:rPr>
              <a:t>Phase 3
M5–M6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7064" y="2350008"/>
            <a:ext cx="2697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系統整合
&amp; 場景驗證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3154680"/>
            <a:ext cx="2514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D3D3D"/>
                </a:solidFill>
              </a:rPr>
              <a:t>• API整合 &amp; 壓力測試
• 業務場景上線驗收
• 監控告警部署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40696" y="1920240"/>
            <a:ext cx="320040" cy="32004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89136" y="2331720"/>
            <a:ext cx="2788920" cy="4160520"/>
          </a:xfrm>
          <a:prstGeom prst="rect">
            <a:avLst/>
          </a:prstGeom>
          <a:solidFill>
            <a:srgbClr val="FFFFFF"/>
          </a:solidFill>
          <a:ln w="254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2331720"/>
            <a:ext cx="2788920" cy="73152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34856" y="118872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B2FBE"/>
                </a:solidFill>
              </a:rPr>
              <a:t>Phase 4
M7+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4856" y="2350008"/>
            <a:ext cx="2697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規模化部署
&amp; 持續優化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6296" y="3154680"/>
            <a:ext cx="2514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D3D3D"/>
                </a:solidFill>
              </a:rPr>
              <a:t>• 全量客戶上線
• Agent自我學習優化
• 新場景持續拓展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技術架構棧 |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868680"/>
          </a:xfrm>
          <a:prstGeom prst="rect">
            <a:avLst/>
          </a:prstGeom>
          <a:solidFill>
            <a:srgbClr val="0022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2194560" cy="868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🤖 AI / Agent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52728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F"/>
                </a:solidFill>
              </a:rPr>
              <a:t>Claude API (Anthropic) · LangChain · CrewAI / AutoGen · MCP Protocol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11430000" cy="868680"/>
          </a:xfrm>
          <a:prstGeom prst="rect">
            <a:avLst/>
          </a:prstGeom>
          <a:solidFill>
            <a:srgbClr val="002240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2194560" cy="8686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2860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📊 Analytics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04288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F"/>
                </a:solidFill>
              </a:rPr>
              <a:t>Databricks MLflow · AutoML · Feature Store · Lakehouse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54680"/>
            <a:ext cx="11430000" cy="868680"/>
          </a:xfrm>
          <a:prstGeom prst="rect">
            <a:avLst/>
          </a:prstGeom>
          <a:solidFill>
            <a:srgbClr val="002240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154680"/>
            <a:ext cx="2194560" cy="8686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3375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💾 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355848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F"/>
                </a:solidFill>
              </a:rPr>
              <a:t>Delta Lake · Unity Catalog · Apache Spark · Delta Live Tables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06240"/>
            <a:ext cx="11430000" cy="868680"/>
          </a:xfrm>
          <a:prstGeom prst="rect">
            <a:avLst/>
          </a:prstGeom>
          <a:solidFill>
            <a:srgbClr val="002240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206240"/>
            <a:ext cx="2194560" cy="86868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3891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🔌 Integration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4407408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F"/>
                </a:solidFill>
              </a:rPr>
              <a:t>REST API · Apache Kafka · WebHook · Databricks Workflows ·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57800"/>
            <a:ext cx="11430000" cy="502920"/>
          </a:xfrm>
          <a:prstGeom prst="rect">
            <a:avLst/>
          </a:prstGeom>
          <a:solidFill>
            <a:srgbClr val="00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3035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C300"/>
                </a:solidFill>
              </a:rPr>
              <a:t>★  全棧部署於 Databricks Lakehouse — 統一資料、AI與分析的單一協作平台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548640"/>
            <a:ext cx="91440" cy="5029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結論與下一步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4D8"/>
                </a:solidFill>
              </a:rPr>
              <a:t>Conclusion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DDFF"/>
                </a:solidFill>
              </a:rPr>
              <a:t>✅ Databricks 已具備打造 Multi-Agent 平台的完整資料基礎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DDFF"/>
                </a:solidFill>
              </a:rPr>
              <a:t>✅ 5大資料源融合創造傳統單源分析無法實現的洞察深度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DDFF"/>
                </a:solidFill>
              </a:rPr>
              <a:t>✅ 9個專業 Agent 協同可覆蓋從洞察到行動的全決策鏈路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79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DDFF"/>
                </a:solidFill>
              </a:rPr>
              <a:t>✅ 量化商業價值明確，ROI 可在 6個月內開始顯現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457200"/>
            <a:ext cx="5943600" cy="5943600"/>
          </a:xfrm>
          <a:prstGeom prst="rect">
            <a:avLst/>
          </a:prstGeom>
          <a:solidFill>
            <a:srgbClr val="0022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54864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⚡ 立即行動 | Immediate 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34440"/>
            <a:ext cx="5669280" cy="1389888"/>
          </a:xfrm>
          <a:prstGeom prst="rect">
            <a:avLst/>
          </a:prstGeom>
          <a:solidFill>
            <a:srgbClr val="002A4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0" y="1234440"/>
            <a:ext cx="914400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691640"/>
            <a:ext cx="914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30759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啟動資料盤點與品質評估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783080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CCFF"/>
                </a:solidFill>
              </a:rPr>
              <a:t>盤點5大資料源覆蓋率、
完整性與接入可行性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2770632"/>
            <a:ext cx="5669280" cy="1389888"/>
          </a:xfrm>
          <a:prstGeom prst="rect">
            <a:avLst/>
          </a:prstGeom>
          <a:solidFill>
            <a:srgbClr val="002A4A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2770632"/>
            <a:ext cx="914400" cy="13898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3227832"/>
            <a:ext cx="914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843784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選定 2–3 個高價值 POC 場景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319272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CCFF"/>
                </a:solidFill>
              </a:rPr>
              <a:t>建議優先：流失預警、精準行銷
× DCB支付信用評估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4306824"/>
            <a:ext cx="5669280" cy="1389888"/>
          </a:xfrm>
          <a:prstGeom prst="rect">
            <a:avLst/>
          </a:prstGeom>
          <a:solidFill>
            <a:srgbClr val="002A4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4306824"/>
            <a:ext cx="914400" cy="13898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4764024"/>
            <a:ext cx="914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379976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組建跨職能 AI Agent 開發團隊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855464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CCFF"/>
                </a:solidFill>
              </a:rPr>
              <a:t>資料工程師 + ML工程師 +
業務分析師 + AI Agent開發者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0" y="5897880"/>
            <a:ext cx="594360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59436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讓資料說話，讓 AI 行動，讓商業持續進化。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